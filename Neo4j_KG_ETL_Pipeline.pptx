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Connector 47"/>
          <p:cNvCxnSpPr>
            <a:cxnSpLocks/>
          </p:cNvCxnSpPr>
          <p:nvPr/>
        </p:nvCxnSpPr>
        <p:spPr>
          <a:xfrm flipV="1">
            <a:off x="8778240" y="4663440"/>
            <a:ext cx="493774" cy="182880"/>
          </a:xfrm>
          <a:prstGeom prst="line">
            <a:avLst/>
          </a:prstGeom>
          <a:ln w="2032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02920" y="203508"/>
            <a:ext cx="4576509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solidFill>
                  <a:srgbClr val="142337"/>
                </a:solidFill>
                <a:latin typeface="Aptos"/>
              </a:rPr>
              <a:t>CSV → Neo4j Knowledge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D"/>
                </a:solidFill>
                <a:latin typeface="Aptos"/>
              </a:rPr>
              <a:t>From tabular source data to an interconnected manufacturing 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600200" cy="566928"/>
          </a:xfrm>
          <a:prstGeom prst="roundRect">
            <a:avLst/>
          </a:prstGeom>
          <a:solidFill>
            <a:srgbClr val="E18C37"/>
          </a:solidFill>
          <a:ln>
            <a:solidFill>
              <a:srgbClr val="E1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1161288"/>
            <a:ext cx="152704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  CSV / Tables</a:t>
            </a:r>
          </a:p>
        </p:txBody>
      </p:sp>
      <p:cxnSp>
        <p:nvCxnSpPr>
          <p:cNvPr id="6" name="Connector 5"/>
          <p:cNvCxnSpPr>
            <a:cxnSpLocks/>
          </p:cNvCxnSpPr>
          <p:nvPr/>
        </p:nvCxnSpPr>
        <p:spPr>
          <a:xfrm>
            <a:off x="2194560" y="1426464"/>
            <a:ext cx="850644" cy="0"/>
          </a:xfrm>
          <a:prstGeom prst="line">
            <a:avLst/>
          </a:prstGeom>
          <a:ln w="3175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88920" y="1143000"/>
            <a:ext cx="1600200" cy="566928"/>
          </a:xfrm>
          <a:prstGeom prst="roundRect">
            <a:avLst/>
          </a:prstGeom>
          <a:solidFill>
            <a:srgbClr val="2D69B4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25496" y="1161288"/>
            <a:ext cx="152704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  Python ETL</a:t>
            </a:r>
          </a:p>
        </p:txBody>
      </p:sp>
      <p:cxnSp>
        <p:nvCxnSpPr>
          <p:cNvPr id="9" name="Connector 8"/>
          <p:cNvCxnSpPr>
            <a:cxnSpLocks/>
            <a:endCxn id="11" idx="1"/>
          </p:cNvCxnSpPr>
          <p:nvPr/>
        </p:nvCxnSpPr>
        <p:spPr>
          <a:xfrm>
            <a:off x="4389120" y="1426464"/>
            <a:ext cx="630936" cy="0"/>
          </a:xfrm>
          <a:prstGeom prst="line">
            <a:avLst/>
          </a:prstGeom>
          <a:ln w="3175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83480" y="1143000"/>
            <a:ext cx="1600200" cy="566928"/>
          </a:xfrm>
          <a:prstGeom prst="roundRect">
            <a:avLst/>
          </a:prstGeom>
          <a:solidFill>
            <a:srgbClr val="2DA5BE"/>
          </a:solidFill>
          <a:ln>
            <a:solidFill>
              <a:srgbClr val="2DA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0056" y="1161288"/>
            <a:ext cx="152704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  Batch + UNWIND</a:t>
            </a:r>
          </a:p>
        </p:txBody>
      </p:sp>
      <p:cxnSp>
        <p:nvCxnSpPr>
          <p:cNvPr id="12" name="Connector 11"/>
          <p:cNvCxnSpPr>
            <a:cxnSpLocks/>
            <a:endCxn id="14" idx="1"/>
          </p:cNvCxnSpPr>
          <p:nvPr/>
        </p:nvCxnSpPr>
        <p:spPr>
          <a:xfrm>
            <a:off x="6583680" y="1426464"/>
            <a:ext cx="630936" cy="0"/>
          </a:xfrm>
          <a:prstGeom prst="line">
            <a:avLst/>
          </a:prstGeom>
          <a:ln w="3175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78040" y="1143000"/>
            <a:ext cx="1600200" cy="566928"/>
          </a:xfrm>
          <a:prstGeom prst="roundRect">
            <a:avLst/>
          </a:prstGeom>
          <a:solidFill>
            <a:srgbClr val="379169"/>
          </a:solidFill>
          <a:ln>
            <a:solidFill>
              <a:srgbClr val="37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14616" y="1161288"/>
            <a:ext cx="152704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4  Neo4j LPG</a:t>
            </a:r>
          </a:p>
        </p:txBody>
      </p:sp>
      <p:cxnSp>
        <p:nvCxnSpPr>
          <p:cNvPr id="15" name="Connector 14"/>
          <p:cNvCxnSpPr>
            <a:cxnSpLocks/>
            <a:endCxn id="17" idx="1"/>
          </p:cNvCxnSpPr>
          <p:nvPr/>
        </p:nvCxnSpPr>
        <p:spPr>
          <a:xfrm>
            <a:off x="8778240" y="1426464"/>
            <a:ext cx="630936" cy="0"/>
          </a:xfrm>
          <a:prstGeom prst="line">
            <a:avLst/>
          </a:prstGeom>
          <a:ln w="3175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72600" y="1143000"/>
            <a:ext cx="1600200" cy="566928"/>
          </a:xfrm>
          <a:prstGeom prst="roundRect">
            <a:avLst/>
          </a:prstGeom>
          <a:solidFill>
            <a:srgbClr val="7D5AAF"/>
          </a:solidFill>
          <a:ln>
            <a:solidFill>
              <a:srgbClr val="7D5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09176" y="1161288"/>
            <a:ext cx="152704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5  Connected KG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057400"/>
            <a:ext cx="27889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267712"/>
            <a:ext cx="2514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142337"/>
                </a:solidFill>
                <a:latin typeface="Aptos"/>
              </a:rPr>
              <a:t>A. Tabular source →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2496312"/>
            <a:ext cx="2514600" cy="21929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lang="en-US" sz="1050" b="0" dirty="0">
              <a:solidFill>
                <a:srgbClr val="232D3A"/>
              </a:solidFill>
              <a:latin typeface="Aptos"/>
            </a:endParaRPr>
          </a:p>
          <a:p>
            <a:pPr algn="l"/>
            <a:r>
              <a:rPr sz="1050" b="0" dirty="0">
                <a:solidFill>
                  <a:srgbClr val="232D3A"/>
                </a:solidFill>
                <a:latin typeface="Aptos"/>
              </a:rPr>
              <a:t>CSV rows are extracted and transformed into Python dictionaries.
Typical entity records:
• Plant / Building / Line / Station
• </a:t>
            </a:r>
            <a:r>
              <a:rPr sz="1050" b="0" dirty="0" err="1">
                <a:solidFill>
                  <a:srgbClr val="232D3A"/>
                </a:solidFill>
                <a:latin typeface="Aptos"/>
              </a:rPr>
              <a:t>WorkUnit</a:t>
            </a:r>
            <a:r>
              <a:rPr sz="1050" b="0" dirty="0">
                <a:solidFill>
                  <a:srgbClr val="232D3A"/>
                </a:solidFill>
                <a:latin typeface="Aptos"/>
              </a:rPr>
              <a:t> / Machine / Product / Material
• Quality / Maintenance / Movement events
Output: normalized records carrying stable </a:t>
            </a:r>
            <a:r>
              <a:rPr sz="1050" b="0" dirty="0" err="1">
                <a:solidFill>
                  <a:srgbClr val="232D3A"/>
                </a:solidFill>
                <a:latin typeface="Aptos"/>
              </a:rPr>
              <a:t>globalKey</a:t>
            </a:r>
            <a:r>
              <a:rPr sz="1050" b="0" dirty="0">
                <a:solidFill>
                  <a:srgbClr val="232D3A"/>
                </a:solidFill>
                <a:latin typeface="Aptos"/>
              </a:rPr>
              <a:t> values.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2057400"/>
            <a:ext cx="37947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76472" y="2271235"/>
            <a:ext cx="35204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142337"/>
                </a:solidFill>
                <a:latin typeface="Aptos"/>
              </a:rPr>
              <a:t>B. Python ETL → batched Cypher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6472" y="2496312"/>
            <a:ext cx="3218688" cy="2677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lang="en-US" sz="1050" b="0" dirty="0">
              <a:solidFill>
                <a:srgbClr val="232D3A"/>
              </a:solidFill>
              <a:latin typeface="Aptos"/>
            </a:endParaRPr>
          </a:p>
          <a:p>
            <a:pPr algn="l"/>
            <a:r>
              <a:rPr sz="1050" b="0" dirty="0" err="1">
                <a:solidFill>
                  <a:srgbClr val="232D3A"/>
                </a:solidFill>
                <a:latin typeface="Aptos"/>
              </a:rPr>
              <a:t>GraphStore</a:t>
            </a:r>
            <a:r>
              <a:rPr sz="1050" b="0" dirty="0">
                <a:solidFill>
                  <a:srgbClr val="232D3A"/>
                </a:solidFill>
                <a:latin typeface="Aptos"/>
              </a:rPr>
              <a:t> receives list[</a:t>
            </a:r>
            <a:r>
              <a:rPr sz="1050" b="0" dirty="0" err="1">
                <a:solidFill>
                  <a:srgbClr val="232D3A"/>
                </a:solidFill>
                <a:latin typeface="Aptos"/>
              </a:rPr>
              <a:t>dict</a:t>
            </a:r>
            <a:r>
              <a:rPr sz="1050" b="0" dirty="0">
                <a:solidFill>
                  <a:srgbClr val="232D3A"/>
                </a:solidFill>
                <a:latin typeface="Aptos"/>
              </a:rPr>
              <a:t>] and writes in controlled batches.
CHUNK → 5,000 records
      ↓
UNWIND $records AS record
      ↓
MERGE node by </a:t>
            </a:r>
            <a:r>
              <a:rPr sz="1050" b="0" dirty="0" err="1">
                <a:solidFill>
                  <a:srgbClr val="232D3A"/>
                </a:solidFill>
                <a:latin typeface="Aptos"/>
              </a:rPr>
              <a:t>globalKey</a:t>
            </a:r>
            <a:r>
              <a:rPr sz="1050" b="0" dirty="0">
                <a:solidFill>
                  <a:srgbClr val="232D3A"/>
                </a:solidFill>
                <a:latin typeface="Aptos"/>
              </a:rPr>
              <a:t>
      ↓
OPTIONAL MATCH / MATCH related nodes
      ↓
MERGE relationships
Two-pass loading keeps entity creation and complex edge creation manageable.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069178"/>
            <a:ext cx="822960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chunk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2057400"/>
            <a:ext cx="3977639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99831" y="2295143"/>
            <a:ext cx="37033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142337"/>
                </a:solidFill>
                <a:latin typeface="Aptos"/>
              </a:rPr>
              <a:t>C. Neo4j → connected manufacturing KG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99831" y="2496312"/>
            <a:ext cx="3468136" cy="18697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lang="en-US" sz="1050" b="0" dirty="0">
              <a:solidFill>
                <a:srgbClr val="232D3A"/>
              </a:solidFill>
              <a:latin typeface="Aptos"/>
            </a:endParaRPr>
          </a:p>
          <a:p>
            <a:pPr algn="l"/>
            <a:r>
              <a:rPr sz="1050" b="0" dirty="0">
                <a:solidFill>
                  <a:srgbClr val="232D3A"/>
                </a:solidFill>
                <a:latin typeface="Aptos"/>
              </a:rPr>
              <a:t>The final model is a Labeled Property Graph (LPG), not a flat table.
Infrastructure → Operations → Assets → Products / Materials → Events
The graph makes traversals explicit:
Plant → Line → Station → </a:t>
            </a:r>
            <a:r>
              <a:rPr sz="1050" b="0" dirty="0" err="1">
                <a:solidFill>
                  <a:srgbClr val="232D3A"/>
                </a:solidFill>
                <a:latin typeface="Aptos"/>
              </a:rPr>
              <a:t>WorkUnit</a:t>
            </a:r>
            <a:r>
              <a:rPr sz="1050" b="0" dirty="0">
                <a:solidFill>
                  <a:srgbClr val="232D3A"/>
                </a:solidFill>
                <a:latin typeface="Aptos"/>
              </a:rPr>
              <a:t> → Machine
Line → Product → Component / Material
Machine → </a:t>
            </a:r>
            <a:r>
              <a:rPr sz="1050" b="0" dirty="0" err="1">
                <a:solidFill>
                  <a:srgbClr val="232D3A"/>
                </a:solidFill>
                <a:latin typeface="Aptos"/>
              </a:rPr>
              <a:t>MaintenanceEvent</a:t>
            </a:r>
            <a:r>
              <a:rPr sz="1050" b="0" dirty="0">
                <a:solidFill>
                  <a:srgbClr val="232D3A"/>
                </a:solidFill>
                <a:latin typeface="Aptos"/>
              </a:rPr>
              <a:t>
Plant → </a:t>
            </a:r>
            <a:r>
              <a:rPr sz="1050" b="0" dirty="0" err="1">
                <a:solidFill>
                  <a:srgbClr val="232D3A"/>
                </a:solidFill>
                <a:latin typeface="Aptos"/>
              </a:rPr>
              <a:t>QualityEvent</a:t>
            </a:r>
            <a:r>
              <a:rPr sz="1050" b="0" dirty="0">
                <a:solidFill>
                  <a:srgbClr val="232D3A"/>
                </a:solidFill>
                <a:latin typeface="Aptos"/>
              </a:rPr>
              <a:t> → Product / Material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4663440"/>
            <a:ext cx="822960" cy="420624"/>
          </a:xfrm>
          <a:prstGeom prst="roundRect">
            <a:avLst/>
          </a:prstGeom>
          <a:solidFill>
            <a:srgbClr val="379169"/>
          </a:solidFill>
          <a:ln>
            <a:solidFill>
              <a:srgbClr val="37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91855" y="4681727"/>
            <a:ext cx="74980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Plant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19" y="4389119"/>
            <a:ext cx="868680" cy="420624"/>
          </a:xfrm>
          <a:prstGeom prst="roundRect">
            <a:avLst/>
          </a:prstGeom>
          <a:solidFill>
            <a:srgbClr val="2D69B4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26296" y="4404556"/>
            <a:ext cx="79552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Aptos"/>
              </a:rPr>
              <a:t>Line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07847" y="4389119"/>
            <a:ext cx="960120" cy="420624"/>
          </a:xfrm>
          <a:prstGeom prst="roundRect">
            <a:avLst/>
          </a:prstGeom>
          <a:solidFill>
            <a:srgbClr val="7D5AAF"/>
          </a:solidFill>
          <a:ln>
            <a:solidFill>
              <a:srgbClr val="7D5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20429" y="4402835"/>
            <a:ext cx="88696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Aptos"/>
              </a:rPr>
              <a:t>Machine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9720" y="5074920"/>
            <a:ext cx="960120" cy="420624"/>
          </a:xfrm>
          <a:prstGeom prst="roundRect">
            <a:avLst/>
          </a:prstGeom>
          <a:solidFill>
            <a:srgbClr val="E18C37"/>
          </a:solidFill>
          <a:ln>
            <a:solidFill>
              <a:srgbClr val="E1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26296" y="5093207"/>
            <a:ext cx="88696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Product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69880" y="5074920"/>
            <a:ext cx="868680" cy="420624"/>
          </a:xfrm>
          <a:prstGeom prst="roundRect">
            <a:avLst/>
          </a:prstGeom>
          <a:solidFill>
            <a:srgbClr val="BE4B4B"/>
          </a:solidFill>
          <a:ln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506455" y="5093207"/>
            <a:ext cx="79552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Quality
Event</a:t>
            </a:r>
          </a:p>
        </p:txBody>
      </p:sp>
      <p:cxnSp>
        <p:nvCxnSpPr>
          <p:cNvPr id="49" name="Connector 48"/>
          <p:cNvCxnSpPr>
            <a:cxnSpLocks/>
            <a:stCxn id="40" idx="3"/>
            <a:endCxn id="42" idx="1"/>
          </p:cNvCxnSpPr>
          <p:nvPr/>
        </p:nvCxnSpPr>
        <p:spPr>
          <a:xfrm>
            <a:off x="10058399" y="4599431"/>
            <a:ext cx="249448" cy="0"/>
          </a:xfrm>
          <a:prstGeom prst="line">
            <a:avLst/>
          </a:prstGeom>
          <a:ln w="2032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cxnSpLocks/>
          </p:cNvCxnSpPr>
          <p:nvPr/>
        </p:nvCxnSpPr>
        <p:spPr>
          <a:xfrm>
            <a:off x="9509760" y="4837176"/>
            <a:ext cx="0" cy="228599"/>
          </a:xfrm>
          <a:prstGeom prst="line">
            <a:avLst/>
          </a:prstGeom>
          <a:ln w="2032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>
            <a:cxnSpLocks/>
          </p:cNvCxnSpPr>
          <p:nvPr/>
        </p:nvCxnSpPr>
        <p:spPr>
          <a:xfrm>
            <a:off x="10147827" y="5285232"/>
            <a:ext cx="320040" cy="0"/>
          </a:xfrm>
          <a:prstGeom prst="line">
            <a:avLst/>
          </a:prstGeom>
          <a:ln w="2032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94360" y="5897880"/>
            <a:ext cx="11018520" cy="50292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" y="5952744"/>
            <a:ext cx="106527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Key idea: CSV provides rows; the ETL turns rows into nodes + relationships, producing a traversable manufacturing context.</a:t>
            </a:r>
          </a:p>
        </p:txBody>
      </p:sp>
      <p:cxnSp>
        <p:nvCxnSpPr>
          <p:cNvPr id="59" name="Connector 48">
            <a:extLst>
              <a:ext uri="{FF2B5EF4-FFF2-40B4-BE49-F238E27FC236}">
                <a16:creationId xmlns:a16="http://schemas.microsoft.com/office/drawing/2014/main" id="{D877486B-848B-6938-0137-E64FC37547EB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8793925" y="4599431"/>
            <a:ext cx="395794" cy="237745"/>
          </a:xfrm>
          <a:prstGeom prst="line">
            <a:avLst/>
          </a:prstGeom>
          <a:ln w="2032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Connector 48"/>
          <p:cNvCxnSpPr/>
          <p:nvPr/>
        </p:nvCxnSpPr>
        <p:spPr>
          <a:xfrm>
            <a:off x="8659368" y="1938528"/>
            <a:ext cx="466344" cy="0"/>
          </a:xfrm>
          <a:prstGeom prst="line">
            <a:avLst/>
          </a:prstGeom>
          <a:ln w="25400">
            <a:solidFill>
              <a:srgbClr val="2DA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852160" y="1938528"/>
            <a:ext cx="658368" cy="0"/>
          </a:xfrm>
          <a:prstGeom prst="line">
            <a:avLst/>
          </a:prstGeom>
          <a:ln w="25400">
            <a:solidFill>
              <a:srgbClr val="2DA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cxnSpLocks/>
          </p:cNvCxnSpPr>
          <p:nvPr/>
        </p:nvCxnSpPr>
        <p:spPr>
          <a:xfrm>
            <a:off x="2697480" y="1938528"/>
            <a:ext cx="594360" cy="0"/>
          </a:xfrm>
          <a:prstGeom prst="line">
            <a:avLst/>
          </a:prstGeom>
          <a:ln w="25400">
            <a:solidFill>
              <a:srgbClr val="2DA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02920" y="203508"/>
            <a:ext cx="6691640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solidFill>
                  <a:srgbClr val="142337"/>
                </a:solidFill>
                <a:latin typeface="Aptos"/>
              </a:rPr>
              <a:t>Graph Schema, Integrity &amp; Ingestion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D"/>
                </a:solidFill>
                <a:latin typeface="Aptos"/>
              </a:rPr>
              <a:t>How the pipeline preserves identity, links domains, and handles bad data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3840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42337"/>
                </a:solidFill>
                <a:latin typeface="Aptos"/>
              </a:rPr>
              <a:t>Manufacturing graph domain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53312"/>
            <a:ext cx="2423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1426464"/>
            <a:ext cx="22037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379169"/>
                </a:solidFill>
                <a:latin typeface="Aptos"/>
              </a:rPr>
              <a:t>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353312"/>
            <a:ext cx="2743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64408" y="1426464"/>
            <a:ext cx="252374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D69B4"/>
                </a:solidFill>
                <a:latin typeface="Aptos"/>
              </a:rPr>
              <a:t>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53312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36208" y="1426464"/>
            <a:ext cx="229514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E18C37"/>
                </a:solidFill>
                <a:latin typeface="Aptos"/>
              </a:rPr>
              <a:t>PRODUCT / MATERIAL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353312"/>
            <a:ext cx="2697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79407" y="1426464"/>
            <a:ext cx="247802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BE4B4B"/>
                </a:solidFill>
                <a:latin typeface="Aptos"/>
              </a:rPr>
              <a:t>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783080"/>
            <a:ext cx="731520" cy="384048"/>
          </a:xfrm>
          <a:prstGeom prst="roundRect">
            <a:avLst/>
          </a:prstGeom>
          <a:solidFill>
            <a:srgbClr val="379169"/>
          </a:solidFill>
          <a:ln>
            <a:solidFill>
              <a:srgbClr val="37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1801368"/>
            <a:ext cx="65836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Plant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1783080"/>
            <a:ext cx="868680" cy="384048"/>
          </a:xfrm>
          <a:prstGeom prst="roundRect">
            <a:avLst/>
          </a:prstGeom>
          <a:solidFill>
            <a:srgbClr val="379169"/>
          </a:solidFill>
          <a:ln>
            <a:solidFill>
              <a:srgbClr val="37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82496" y="1801368"/>
            <a:ext cx="79552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Building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2395728"/>
            <a:ext cx="960120" cy="384048"/>
          </a:xfrm>
          <a:prstGeom prst="roundRect">
            <a:avLst/>
          </a:prstGeom>
          <a:solidFill>
            <a:srgbClr val="379169"/>
          </a:solidFill>
          <a:ln>
            <a:solidFill>
              <a:srgbClr val="37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25296" y="2414016"/>
            <a:ext cx="88696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Industry</a:t>
            </a:r>
          </a:p>
        </p:txBody>
      </p:sp>
      <p:cxnSp>
        <p:nvCxnSpPr>
          <p:cNvPr id="19" name="Connector 18"/>
          <p:cNvCxnSpPr>
            <a:cxnSpLocks/>
            <a:endCxn id="17" idx="0"/>
          </p:cNvCxnSpPr>
          <p:nvPr/>
        </p:nvCxnSpPr>
        <p:spPr>
          <a:xfrm>
            <a:off x="1319022" y="2171698"/>
            <a:ext cx="349758" cy="224030"/>
          </a:xfrm>
          <a:prstGeom prst="line">
            <a:avLst/>
          </a:prstGeom>
          <a:ln w="1778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83280" y="1783080"/>
            <a:ext cx="685800" cy="384048"/>
          </a:xfrm>
          <a:prstGeom prst="roundRect">
            <a:avLst/>
          </a:prstGeom>
          <a:solidFill>
            <a:srgbClr val="2D69B4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19856" y="1801368"/>
            <a:ext cx="61264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783080"/>
            <a:ext cx="749808" cy="384048"/>
          </a:xfrm>
          <a:prstGeom prst="roundRect">
            <a:avLst/>
          </a:prstGeom>
          <a:solidFill>
            <a:srgbClr val="2D69B4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88536" y="1801368"/>
            <a:ext cx="676656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66360" y="1783080"/>
            <a:ext cx="658368" cy="384048"/>
          </a:xfrm>
          <a:prstGeom prst="roundRect">
            <a:avLst/>
          </a:prstGeom>
          <a:solidFill>
            <a:srgbClr val="2D69B4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02936" y="1801368"/>
            <a:ext cx="585216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WorkUnit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2395728"/>
            <a:ext cx="777240" cy="384048"/>
          </a:xfrm>
          <a:prstGeom prst="roundRect">
            <a:avLst/>
          </a:prstGeom>
          <a:solidFill>
            <a:srgbClr val="7D5AAF"/>
          </a:solidFill>
          <a:ln>
            <a:solidFill>
              <a:srgbClr val="7D5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97096" y="2414016"/>
            <a:ext cx="70408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Machine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69080" y="1975104"/>
            <a:ext cx="182880" cy="0"/>
          </a:xfrm>
          <a:prstGeom prst="line">
            <a:avLst/>
          </a:prstGeom>
          <a:ln w="1778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01768" y="1975104"/>
            <a:ext cx="164592" cy="0"/>
          </a:xfrm>
          <a:prstGeom prst="line">
            <a:avLst/>
          </a:prstGeom>
          <a:ln w="1778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4617720" y="2167128"/>
            <a:ext cx="868680" cy="228600"/>
          </a:xfrm>
          <a:prstGeom prst="line">
            <a:avLst/>
          </a:prstGeom>
          <a:ln w="1778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37960" y="1783080"/>
            <a:ext cx="777240" cy="384048"/>
          </a:xfrm>
          <a:prstGeom prst="roundRect">
            <a:avLst/>
          </a:prstGeom>
          <a:solidFill>
            <a:srgbClr val="E18C37"/>
          </a:solidFill>
          <a:ln>
            <a:solidFill>
              <a:srgbClr val="E1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74536" y="1801368"/>
            <a:ext cx="70408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Product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1783080"/>
            <a:ext cx="777240" cy="384048"/>
          </a:xfrm>
          <a:prstGeom prst="roundRect">
            <a:avLst/>
          </a:prstGeom>
          <a:solidFill>
            <a:srgbClr val="E18C37"/>
          </a:solidFill>
          <a:ln>
            <a:solidFill>
              <a:srgbClr val="E1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26096" y="1801368"/>
            <a:ext cx="70408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Material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59168" y="2395728"/>
            <a:ext cx="1005840" cy="384048"/>
          </a:xfrm>
          <a:prstGeom prst="roundRect">
            <a:avLst/>
          </a:prstGeom>
          <a:solidFill>
            <a:srgbClr val="E18C37"/>
          </a:solidFill>
          <a:ln>
            <a:solidFill>
              <a:srgbClr val="E1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95744" y="2414016"/>
            <a:ext cx="93268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BOM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931152" y="2167128"/>
            <a:ext cx="365760" cy="228600"/>
          </a:xfrm>
          <a:prstGeom prst="line">
            <a:avLst/>
          </a:prstGeom>
          <a:ln w="1778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7818120" y="2167128"/>
            <a:ext cx="155448" cy="228600"/>
          </a:xfrm>
          <a:prstGeom prst="line">
            <a:avLst/>
          </a:prstGeom>
          <a:ln w="1778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144000" y="1783080"/>
            <a:ext cx="1051560" cy="384048"/>
          </a:xfrm>
          <a:prstGeom prst="roundRect">
            <a:avLst/>
          </a:prstGeom>
          <a:solidFill>
            <a:srgbClr val="BE4B4B"/>
          </a:solidFill>
          <a:ln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80576" y="1801368"/>
            <a:ext cx="97840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QualityEvent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24160" y="1783080"/>
            <a:ext cx="960120" cy="384048"/>
          </a:xfrm>
          <a:prstGeom prst="roundRect">
            <a:avLst/>
          </a:prstGeom>
          <a:solidFill>
            <a:srgbClr val="BE4B4B"/>
          </a:solidFill>
          <a:ln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460736" y="1801368"/>
            <a:ext cx="88696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Maintenance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84080" y="2395728"/>
            <a:ext cx="1051560" cy="384048"/>
          </a:xfrm>
          <a:prstGeom prst="roundRect">
            <a:avLst/>
          </a:prstGeom>
          <a:solidFill>
            <a:srgbClr val="BE4B4B"/>
          </a:solidFill>
          <a:ln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20655" y="2414016"/>
            <a:ext cx="97840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Movement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646920" y="2167128"/>
            <a:ext cx="457200" cy="228600"/>
          </a:xfrm>
          <a:prstGeom prst="line">
            <a:avLst/>
          </a:prstGeom>
          <a:ln w="1778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0469880" y="2167128"/>
            <a:ext cx="411480" cy="228600"/>
          </a:xfrm>
          <a:prstGeom prst="line">
            <a:avLst/>
          </a:prstGeom>
          <a:ln w="1778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02920" y="3456432"/>
            <a:ext cx="3703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42337"/>
                </a:solidFill>
                <a:latin typeface="Aptos"/>
              </a:rPr>
              <a:t>Ingestion controls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3822191"/>
            <a:ext cx="35204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7512" y="3913631"/>
            <a:ext cx="32461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42337"/>
                </a:solidFill>
                <a:latin typeface="Aptos"/>
              </a:rPr>
              <a:t>1. Identity &amp; performance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" y="4261104"/>
            <a:ext cx="3069783" cy="11901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dirty="0">
                <a:solidFill>
                  <a:srgbClr val="232D3A"/>
                </a:solidFill>
                <a:latin typeface="Aptos"/>
              </a:rPr>
              <a:t>Unique constraints on </a:t>
            </a:r>
            <a:r>
              <a:rPr sz="1019" b="0" dirty="0" err="1">
                <a:solidFill>
                  <a:srgbClr val="232D3A"/>
                </a:solidFill>
                <a:latin typeface="Aptos"/>
              </a:rPr>
              <a:t>globalKey</a:t>
            </a:r>
            <a:r>
              <a:rPr sz="1019" b="0" dirty="0">
                <a:solidFill>
                  <a:srgbClr val="232D3A"/>
                </a:solidFill>
                <a:latin typeface="Aptos"/>
              </a:rPr>
              <a:t> allow indexed MERGE matching.
Examples: Plant, Machine, Product, </a:t>
            </a:r>
            <a:r>
              <a:rPr sz="1019" b="0" dirty="0" err="1">
                <a:solidFill>
                  <a:srgbClr val="232D3A"/>
                </a:solidFill>
                <a:latin typeface="Aptos"/>
              </a:rPr>
              <a:t>QualityEvent</a:t>
            </a:r>
            <a:r>
              <a:rPr sz="1019" b="0" dirty="0">
                <a:solidFill>
                  <a:srgbClr val="232D3A"/>
                </a:solidFill>
                <a:latin typeface="Aptos"/>
              </a:rPr>
              <a:t>.
Constraint-first ingestion avoids expensive database-wide scans.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87952" y="3822191"/>
            <a:ext cx="35204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52544" y="3913631"/>
            <a:ext cx="32461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42337"/>
                </a:solidFill>
                <a:latin typeface="Aptos"/>
              </a:rPr>
              <a:t>2. Relationship-safe loading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52544" y="4261104"/>
            <a:ext cx="2944368" cy="103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dirty="0">
                <a:solidFill>
                  <a:srgbClr val="232D3A"/>
                </a:solidFill>
                <a:latin typeface="Aptos"/>
              </a:rPr>
              <a:t>Nodes are created independently, then relationships are linked.
OPTIONAL MATCH supports missing optional references.
MERGE makes relationship creation idempotent.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72983" y="3822191"/>
            <a:ext cx="37947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37575" y="3913631"/>
            <a:ext cx="35204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42337"/>
                </a:solidFill>
                <a:latin typeface="Aptos"/>
              </a:rPr>
              <a:t>3. Data-quality quarantine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37575" y="4261104"/>
            <a:ext cx="3136561" cy="103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dirty="0">
                <a:solidFill>
                  <a:srgbClr val="232D3A"/>
                </a:solidFill>
                <a:latin typeface="Aptos"/>
              </a:rPr>
              <a:t>Schema/transform failures do not stop the whole pipeline.
Rejected records become :</a:t>
            </a:r>
            <a:r>
              <a:rPr lang="en-US" sz="1019" b="0" dirty="0">
                <a:solidFill>
                  <a:srgbClr val="232D3A"/>
                </a:solidFill>
                <a:latin typeface="Aptos"/>
              </a:rPr>
              <a:t> </a:t>
            </a:r>
            <a:r>
              <a:rPr sz="1019" b="0" dirty="0" err="1">
                <a:solidFill>
                  <a:srgbClr val="232D3A"/>
                </a:solidFill>
                <a:latin typeface="Aptos"/>
              </a:rPr>
              <a:t>QuarantinedRecord</a:t>
            </a:r>
            <a:r>
              <a:rPr sz="1019" b="0" dirty="0">
                <a:solidFill>
                  <a:srgbClr val="232D3A"/>
                </a:solidFill>
                <a:latin typeface="Aptos"/>
              </a:rPr>
              <a:t> with:
</a:t>
            </a:r>
            <a:r>
              <a:rPr sz="1019" b="0" dirty="0" err="1">
                <a:solidFill>
                  <a:srgbClr val="232D3A"/>
                </a:solidFill>
                <a:latin typeface="Aptos"/>
              </a:rPr>
              <a:t>quarantineId</a:t>
            </a:r>
            <a:r>
              <a:rPr sz="1019" b="0" dirty="0">
                <a:solidFill>
                  <a:srgbClr val="232D3A"/>
                </a:solidFill>
                <a:latin typeface="Aptos"/>
              </a:rPr>
              <a:t> • </a:t>
            </a:r>
            <a:r>
              <a:rPr sz="1019" b="0" dirty="0" err="1">
                <a:solidFill>
                  <a:srgbClr val="232D3A"/>
                </a:solidFill>
                <a:latin typeface="Aptos"/>
              </a:rPr>
              <a:t>entityType</a:t>
            </a:r>
            <a:r>
              <a:rPr sz="1019" b="0" dirty="0">
                <a:solidFill>
                  <a:srgbClr val="232D3A"/>
                </a:solidFill>
                <a:latin typeface="Aptos"/>
              </a:rPr>
              <a:t> • reason • raw payload • status • </a:t>
            </a:r>
            <a:r>
              <a:rPr sz="1019" b="0" dirty="0" err="1">
                <a:solidFill>
                  <a:srgbClr val="232D3A"/>
                </a:solidFill>
                <a:latin typeface="Aptos"/>
              </a:rPr>
              <a:t>createdAt</a:t>
            </a:r>
            <a:endParaRPr sz="1019" b="0" dirty="0">
              <a:solidFill>
                <a:srgbClr val="232D3A"/>
              </a:solidFill>
              <a:latin typeface="Apto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48640" y="6199632"/>
            <a:ext cx="10972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5F6C7D"/>
                </a:solidFill>
                <a:latin typeface="Aptos"/>
              </a:rPr>
              <a:t>Operational sequence:  Extract → Transform → Validate → Constraint-backed MERGE → Link → Audit / Quarantine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429</Words>
  <Application>Microsoft Office PowerPoint</Application>
  <PresentationFormat>Widescreen</PresentationFormat>
  <Paragraphs>51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Ishaan Tiwari</dc:creator>
  <cp:keywords/>
  <dc:description>generated using python-pptx</dc:description>
  <cp:lastModifiedBy>Ishaan Tiwari</cp:lastModifiedBy>
  <cp:revision>3</cp:revision>
  <dcterms:created xsi:type="dcterms:W3CDTF">2013-01-27T09:14:16Z</dcterms:created>
  <dcterms:modified xsi:type="dcterms:W3CDTF">2026-09-22T14:33:36Z</dcterms:modified>
  <cp:category/>
</cp:coreProperties>
</file>