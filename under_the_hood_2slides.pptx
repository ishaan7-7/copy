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34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Vehicle TelemetriX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905" y="5120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905" y="106070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sensor reading, five real-time stages, one named fault — fleet-wide, continuously.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905" y="1627632"/>
            <a:ext cx="1972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98035" y="17373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2785" y="1792224"/>
            <a:ext cx="457200" cy="457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8" name="Image 0" descr="icon_ing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3" y="190195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2785" y="2359152"/>
            <a:ext cx="1606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92785" y="2670048"/>
            <a:ext cx="16064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· schema-validated, per-subsystem topics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2785" y="3090672"/>
            <a:ext cx="1604772" cy="256032"/>
          </a:xfrm>
          <a:prstGeom prst="roundRect">
            <a:avLst>
              <a:gd name="adj" fmla="val 50000"/>
            </a:avLst>
          </a:prstGeom>
          <a:solidFill>
            <a:srgbClr val="EFEDE8"/>
          </a:solidFill>
          <a:ln/>
        </p:spPr>
      </p:sp>
      <p:sp>
        <p:nvSpPr>
          <p:cNvPr id="12" name="Text 9"/>
          <p:cNvSpPr/>
          <p:nvPr/>
        </p:nvSpPr>
        <p:spPr>
          <a:xfrm>
            <a:off x="792785" y="3086100"/>
            <a:ext cx="16047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CAPTURE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82083" y="2542032"/>
            <a:ext cx="292608" cy="0"/>
          </a:xfrm>
          <a:prstGeom prst="line">
            <a:avLst/>
          </a:prstGeom>
          <a:noFill/>
          <a:ln w="22225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74691" y="1627632"/>
            <a:ext cx="1972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62821" y="17373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57571" y="1792224"/>
            <a:ext cx="457200" cy="457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17" name="Image 1" descr="icon_bron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299" y="190195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57571" y="2359152"/>
            <a:ext cx="1606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3057571" y="2670048"/>
            <a:ext cx="16064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→ Delta Lake, ACID writes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057571" y="3090672"/>
            <a:ext cx="1606418" cy="256032"/>
          </a:xfrm>
          <a:prstGeom prst="roundRect">
            <a:avLst>
              <a:gd name="adj" fmla="val 50000"/>
            </a:avLst>
          </a:prstGeom>
          <a:solidFill>
            <a:srgbClr val="E4F1F2"/>
          </a:solidFill>
          <a:ln/>
        </p:spPr>
      </p:sp>
      <p:sp>
        <p:nvSpPr>
          <p:cNvPr id="21" name="Text 17"/>
          <p:cNvSpPr/>
          <p:nvPr/>
        </p:nvSpPr>
        <p:spPr>
          <a:xfrm>
            <a:off x="3057571" y="3086100"/>
            <a:ext cx="160641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· 1s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846869" y="2542032"/>
            <a:ext cx="292608" cy="0"/>
          </a:xfrm>
          <a:prstGeom prst="line">
            <a:avLst/>
          </a:prstGeom>
          <a:noFill/>
          <a:ln w="22225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139477" y="1627632"/>
            <a:ext cx="1972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727607" y="17373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322357" y="1792224"/>
            <a:ext cx="457200" cy="457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26" name="Image 2" descr="icon_sil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085" y="190195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22357" y="2359152"/>
            <a:ext cx="1606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50" dirty="0"/>
          </a:p>
        </p:txBody>
      </p:sp>
      <p:sp>
        <p:nvSpPr>
          <p:cNvPr id="28" name="Text 23"/>
          <p:cNvSpPr/>
          <p:nvPr/>
        </p:nvSpPr>
        <p:spPr>
          <a:xfrm>
            <a:off x="5322357" y="2670048"/>
            <a:ext cx="16064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 + Gaussian Mixture Model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322357" y="3090672"/>
            <a:ext cx="1499616" cy="256032"/>
          </a:xfrm>
          <a:prstGeom prst="roundRect">
            <a:avLst>
              <a:gd name="adj" fmla="val 50000"/>
            </a:avLst>
          </a:prstGeom>
          <a:solidFill>
            <a:srgbClr val="E7ECF1"/>
          </a:solidFill>
          <a:ln/>
        </p:spPr>
      </p:sp>
      <p:sp>
        <p:nvSpPr>
          <p:cNvPr id="30" name="Text 25"/>
          <p:cNvSpPr/>
          <p:nvPr/>
        </p:nvSpPr>
        <p:spPr>
          <a:xfrm>
            <a:off x="5322357" y="3086100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· 2s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111655" y="2542032"/>
            <a:ext cx="292608" cy="0"/>
          </a:xfrm>
          <a:prstGeom prst="line">
            <a:avLst/>
          </a:prstGeom>
          <a:noFill/>
          <a:ln w="22225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7404263" y="1627632"/>
            <a:ext cx="1972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8992392" y="17373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7587143" y="1792224"/>
            <a:ext cx="457200" cy="457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35" name="Image 3" descr="icon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871" y="1901952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587143" y="2359152"/>
            <a:ext cx="1606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50" dirty="0"/>
          </a:p>
        </p:txBody>
      </p:sp>
      <p:sp>
        <p:nvSpPr>
          <p:cNvPr id="37" name="Text 31"/>
          <p:cNvSpPr/>
          <p:nvPr/>
        </p:nvSpPr>
        <p:spPr>
          <a:xfrm>
            <a:off x="7587143" y="2670048"/>
            <a:ext cx="16064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scores, weighted → 1 vehicle health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7587143" y="3090672"/>
            <a:ext cx="1606418" cy="256032"/>
          </a:xfrm>
          <a:prstGeom prst="roundRect">
            <a:avLst>
              <a:gd name="adj" fmla="val 50000"/>
            </a:avLst>
          </a:prstGeom>
          <a:solidFill>
            <a:srgbClr val="E7ECF1"/>
          </a:solidFill>
          <a:ln/>
        </p:spPr>
      </p:sp>
      <p:sp>
        <p:nvSpPr>
          <p:cNvPr id="39" name="Text 33"/>
          <p:cNvSpPr/>
          <p:nvPr/>
        </p:nvSpPr>
        <p:spPr>
          <a:xfrm>
            <a:off x="7587143" y="3086100"/>
            <a:ext cx="160641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2s · EMIT 30s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9376440" y="2542032"/>
            <a:ext cx="292608" cy="0"/>
          </a:xfrm>
          <a:prstGeom prst="line">
            <a:avLst/>
          </a:prstGeom>
          <a:noFill/>
          <a:ln w="22225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41" name="Shape 35"/>
          <p:cNvSpPr/>
          <p:nvPr/>
        </p:nvSpPr>
        <p:spPr>
          <a:xfrm>
            <a:off x="9669048" y="1627632"/>
            <a:ext cx="19721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1552E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11257178" y="17373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9851928" y="1792224"/>
            <a:ext cx="457200" cy="457200"/>
          </a:xfrm>
          <a:prstGeom prst="ellipse">
            <a:avLst/>
          </a:prstGeom>
          <a:solidFill>
            <a:srgbClr val="FBEAE1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44" name="Image 4" descr="icon_ale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1656" y="1901952"/>
            <a:ext cx="237744" cy="23774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851928" y="2359152"/>
            <a:ext cx="1606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DTC</a:t>
            </a:r>
            <a:endParaRPr lang="en-US" sz="1650" dirty="0"/>
          </a:p>
        </p:txBody>
      </p:sp>
      <p:sp>
        <p:nvSpPr>
          <p:cNvPr id="46" name="Text 39"/>
          <p:cNvSpPr/>
          <p:nvPr/>
        </p:nvSpPr>
        <p:spPr>
          <a:xfrm>
            <a:off x="9851928" y="2670048"/>
            <a:ext cx="16064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anomaly → a named fault code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9851928" y="3090672"/>
            <a:ext cx="1604772" cy="256032"/>
          </a:xfrm>
          <a:prstGeom prst="roundRect">
            <a:avLst>
              <a:gd name="adj" fmla="val 50000"/>
            </a:avLst>
          </a:prstGeom>
          <a:solidFill>
            <a:srgbClr val="FBEAE1"/>
          </a:solidFill>
          <a:ln/>
        </p:spPr>
      </p:sp>
      <p:sp>
        <p:nvSpPr>
          <p:cNvPr id="48" name="Text 41"/>
          <p:cNvSpPr/>
          <p:nvPr/>
        </p:nvSpPr>
        <p:spPr>
          <a:xfrm>
            <a:off x="9851928" y="3086100"/>
            <a:ext cx="16047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 DIAGNOSIS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609905" y="3799332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F5C68"/>
          </a:solidFill>
          <a:ln/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829361" y="3913632"/>
            <a:ext cx="384048" cy="384048"/>
          </a:xfrm>
          <a:prstGeom prst="ellipse">
            <a:avLst/>
          </a:prstGeom>
          <a:solidFill>
            <a:srgbClr val="2A7080"/>
          </a:solidFill>
          <a:ln/>
        </p:spPr>
      </p:sp>
      <p:pic>
        <p:nvPicPr>
          <p:cNvPr id="51" name="Image 5" descr="icon_wi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801" y="4014216"/>
            <a:ext cx="201168" cy="20116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829361" y="4389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Streaming</a:t>
            </a:r>
            <a:endParaRPr lang="en-US" sz="1450" dirty="0"/>
          </a:p>
        </p:txBody>
      </p:sp>
      <p:sp>
        <p:nvSpPr>
          <p:cNvPr id="53" name="Text 45"/>
          <p:cNvSpPr/>
          <p:nvPr/>
        </p:nvSpPr>
        <p:spPr>
          <a:xfrm>
            <a:off x="829361" y="46451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micro-batches · Ingest → Bronze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829361" y="4919472"/>
            <a:ext cx="3035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streaming frameworks are built for — ACID, exactly-once.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4386377" y="3784236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32A44"/>
          </a:solidFill>
          <a:ln/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4578401" y="3913632"/>
            <a:ext cx="384048" cy="384048"/>
          </a:xfrm>
          <a:prstGeom prst="ellipse">
            <a:avLst/>
          </a:prstGeom>
          <a:solidFill>
            <a:srgbClr val="24466B"/>
          </a:solidFill>
          <a:ln/>
        </p:spPr>
      </p:sp>
      <p:pic>
        <p:nvPicPr>
          <p:cNvPr id="57" name="Image 6" descr="icon_refre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9841" y="4014216"/>
            <a:ext cx="201168" cy="20116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4578401" y="4389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Polling</a:t>
            </a:r>
            <a:endParaRPr lang="en-US" sz="1450" dirty="0"/>
          </a:p>
        </p:txBody>
      </p:sp>
      <p:sp>
        <p:nvSpPr>
          <p:cNvPr id="59" name="Text 50"/>
          <p:cNvSpPr/>
          <p:nvPr/>
        </p:nvSpPr>
        <p:spPr>
          <a:xfrm>
            <a:off x="4578401" y="46451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2s · Silver · Gold · Alerts</a:t>
            </a:r>
            <a:endParaRPr lang="en-US" sz="950" dirty="0"/>
          </a:p>
        </p:txBody>
      </p:sp>
      <p:sp>
        <p:nvSpPr>
          <p:cNvPr id="60" name="Text 51"/>
          <p:cNvSpPr/>
          <p:nvPr/>
        </p:nvSpPr>
        <p:spPr>
          <a:xfrm>
            <a:off x="4578401" y="4919472"/>
            <a:ext cx="3035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ML inference doesn't need a heavyweight streaming engine.</a:t>
            </a:r>
            <a:endParaRPr lang="en-US" sz="950" dirty="0"/>
          </a:p>
        </p:txBody>
      </p:sp>
      <p:sp>
        <p:nvSpPr>
          <p:cNvPr id="67" name="Shape 57"/>
          <p:cNvSpPr/>
          <p:nvPr/>
        </p:nvSpPr>
        <p:spPr>
          <a:xfrm>
            <a:off x="609905" y="5326380"/>
            <a:ext cx="10972800" cy="639348"/>
          </a:xfrm>
          <a:prstGeom prst="roundRect">
            <a:avLst>
              <a:gd name="adj" fmla="val 50000"/>
            </a:avLst>
          </a:prstGeom>
          <a:solidFill>
            <a:srgbClr val="132A44"/>
          </a:solidFill>
          <a:ln/>
        </p:spPr>
      </p:sp>
      <p:sp>
        <p:nvSpPr>
          <p:cNvPr id="68" name="Shape 58"/>
          <p:cNvSpPr/>
          <p:nvPr/>
        </p:nvSpPr>
        <p:spPr>
          <a:xfrm>
            <a:off x="865937" y="5486400"/>
            <a:ext cx="292608" cy="292608"/>
          </a:xfrm>
          <a:prstGeom prst="ellipse">
            <a:avLst/>
          </a:prstGeom>
          <a:solidFill>
            <a:srgbClr val="3E9142"/>
          </a:solidFill>
          <a:ln/>
        </p:spPr>
      </p:sp>
      <p:pic>
        <p:nvPicPr>
          <p:cNvPr id="69" name="Image 8" descr="icon_che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61" y="5545836"/>
            <a:ext cx="173736" cy="173736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1268273" y="54399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seconds</a:t>
            </a:r>
            <a:endParaRPr lang="en-US" sz="1500" dirty="0"/>
          </a:p>
        </p:txBody>
      </p:sp>
      <p:sp>
        <p:nvSpPr>
          <p:cNvPr id="71" name="Text 60"/>
          <p:cNvSpPr/>
          <p:nvPr/>
        </p:nvSpPr>
        <p:spPr>
          <a:xfrm>
            <a:off x="1288207" y="56601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 → ML verdict, whole fleet</a:t>
            </a:r>
            <a:endParaRPr lang="en-US" sz="1050" dirty="0"/>
          </a:p>
        </p:txBody>
      </p:sp>
      <p:sp>
        <p:nvSpPr>
          <p:cNvPr id="72" name="Shape 61"/>
          <p:cNvSpPr/>
          <p:nvPr/>
        </p:nvSpPr>
        <p:spPr>
          <a:xfrm>
            <a:off x="4267505" y="5458968"/>
            <a:ext cx="0" cy="347472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4523537" y="5486400"/>
            <a:ext cx="292608" cy="292608"/>
          </a:xfrm>
          <a:prstGeom prst="ellipse">
            <a:avLst/>
          </a:prstGeom>
          <a:solidFill>
            <a:srgbClr val="3E9142"/>
          </a:solidFill>
          <a:ln/>
        </p:spPr>
      </p:sp>
      <p:pic>
        <p:nvPicPr>
          <p:cNvPr id="74" name="Image 9" descr="icon_che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1261" y="5545836"/>
            <a:ext cx="173736" cy="173736"/>
          </a:xfrm>
          <a:prstGeom prst="rect">
            <a:avLst/>
          </a:prstGeom>
        </p:spPr>
      </p:pic>
      <p:sp>
        <p:nvSpPr>
          <p:cNvPr id="75" name="Text 63"/>
          <p:cNvSpPr/>
          <p:nvPr/>
        </p:nvSpPr>
        <p:spPr>
          <a:xfrm>
            <a:off x="4925873" y="54399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shared contract</a:t>
            </a:r>
            <a:endParaRPr lang="en-US" sz="1500" dirty="0"/>
          </a:p>
        </p:txBody>
      </p:sp>
      <p:sp>
        <p:nvSpPr>
          <p:cNvPr id="76" name="Text 64"/>
          <p:cNvSpPr/>
          <p:nvPr/>
        </p:nvSpPr>
        <p:spPr>
          <a:xfrm>
            <a:off x="4925873" y="56601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isolated Kafka streams, zero drift</a:t>
            </a:r>
            <a:endParaRPr lang="en-US" sz="1050" dirty="0"/>
          </a:p>
        </p:txBody>
      </p:sp>
      <p:sp>
        <p:nvSpPr>
          <p:cNvPr id="77" name="Shape 65"/>
          <p:cNvSpPr/>
          <p:nvPr/>
        </p:nvSpPr>
        <p:spPr>
          <a:xfrm>
            <a:off x="7925105" y="5458968"/>
            <a:ext cx="0" cy="347472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>
            <a:off x="8181137" y="5486400"/>
            <a:ext cx="292608" cy="292608"/>
          </a:xfrm>
          <a:prstGeom prst="ellipse">
            <a:avLst/>
          </a:prstGeom>
          <a:solidFill>
            <a:srgbClr val="3E9142"/>
          </a:solidFill>
          <a:ln/>
        </p:spPr>
      </p:sp>
      <p:pic>
        <p:nvPicPr>
          <p:cNvPr id="79" name="Image 10" descr="icon_che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8861" y="5545836"/>
            <a:ext cx="173736" cy="173736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8583473" y="54399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+ time travel</a:t>
            </a:r>
            <a:endParaRPr lang="en-US" sz="1500" dirty="0"/>
          </a:p>
        </p:txBody>
      </p:sp>
      <p:sp>
        <p:nvSpPr>
          <p:cNvPr id="81" name="Text 68"/>
          <p:cNvSpPr/>
          <p:nvPr/>
        </p:nvSpPr>
        <p:spPr>
          <a:xfrm>
            <a:off x="8583473" y="56601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layer, any past moment</a:t>
            </a:r>
            <a:endParaRPr lang="en-US" sz="1050" dirty="0"/>
          </a:p>
        </p:txBody>
      </p:sp>
      <p:sp>
        <p:nvSpPr>
          <p:cNvPr id="82" name="Text 69"/>
          <p:cNvSpPr/>
          <p:nvPr/>
        </p:nvSpPr>
        <p:spPr>
          <a:xfrm>
            <a:off x="609905" y="5942523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where speed matters. Polling where precision matters. Batch where trust is built.</a:t>
            </a:r>
            <a:endParaRPr lang="en-US" sz="1600" dirty="0"/>
          </a:p>
        </p:txBody>
      </p:sp>
      <p:sp>
        <p:nvSpPr>
          <p:cNvPr id="86" name="Shape 52">
            <a:extLst>
              <a:ext uri="{FF2B5EF4-FFF2-40B4-BE49-F238E27FC236}">
                <a16:creationId xmlns:a16="http://schemas.microsoft.com/office/drawing/2014/main" id="{FC1ABC3E-7F0B-1FCA-0F6B-616CA436BBD3}"/>
              </a:ext>
            </a:extLst>
          </p:cNvPr>
          <p:cNvSpPr/>
          <p:nvPr/>
        </p:nvSpPr>
        <p:spPr>
          <a:xfrm>
            <a:off x="8166506" y="3767328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EDEBE6"/>
          </a:solidFill>
          <a:ln/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87" name="Shape 53">
            <a:extLst>
              <a:ext uri="{FF2B5EF4-FFF2-40B4-BE49-F238E27FC236}">
                <a16:creationId xmlns:a16="http://schemas.microsoft.com/office/drawing/2014/main" id="{75CC964B-5626-B9E7-F967-72BF2A30CC81}"/>
              </a:ext>
            </a:extLst>
          </p:cNvPr>
          <p:cNvSpPr/>
          <p:nvPr/>
        </p:nvSpPr>
        <p:spPr>
          <a:xfrm>
            <a:off x="8327441" y="3913632"/>
            <a:ext cx="384048" cy="384048"/>
          </a:xfrm>
          <a:prstGeom prst="ellipse">
            <a:avLst/>
          </a:prstGeom>
          <a:solidFill>
            <a:srgbClr val="C9C4B8"/>
          </a:solidFill>
          <a:ln/>
        </p:spPr>
      </p:sp>
      <p:pic>
        <p:nvPicPr>
          <p:cNvPr id="88" name="Image 7" descr="icon_clock.png">
            <a:extLst>
              <a:ext uri="{FF2B5EF4-FFF2-40B4-BE49-F238E27FC236}">
                <a16:creationId xmlns:a16="http://schemas.microsoft.com/office/drawing/2014/main" id="{0A58D14B-BB19-6AEB-541D-BC829A7BB9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9389" y="3963735"/>
            <a:ext cx="289681" cy="289681"/>
          </a:xfrm>
          <a:prstGeom prst="rect">
            <a:avLst/>
          </a:prstGeom>
        </p:spPr>
      </p:pic>
      <p:sp>
        <p:nvSpPr>
          <p:cNvPr id="90" name="Text 54">
            <a:extLst>
              <a:ext uri="{FF2B5EF4-FFF2-40B4-BE49-F238E27FC236}">
                <a16:creationId xmlns:a16="http://schemas.microsoft.com/office/drawing/2014/main" id="{51D532B6-7A3B-592F-E888-66577254C800}"/>
              </a:ext>
            </a:extLst>
          </p:cNvPr>
          <p:cNvSpPr/>
          <p:nvPr/>
        </p:nvSpPr>
        <p:spPr>
          <a:xfrm>
            <a:off x="8327441" y="4389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Fleet Systems</a:t>
            </a:r>
            <a:endParaRPr lang="en-US" sz="1450" dirty="0"/>
          </a:p>
        </p:txBody>
      </p:sp>
      <p:sp>
        <p:nvSpPr>
          <p:cNvPr id="91" name="Text 55">
            <a:extLst>
              <a:ext uri="{FF2B5EF4-FFF2-40B4-BE49-F238E27FC236}">
                <a16:creationId xmlns:a16="http://schemas.microsoft.com/office/drawing/2014/main" id="{E1FF4F68-3E6C-25AF-0D43-501EA8FC08BE}"/>
              </a:ext>
            </a:extLst>
          </p:cNvPr>
          <p:cNvSpPr/>
          <p:nvPr/>
        </p:nvSpPr>
        <p:spPr>
          <a:xfrm>
            <a:off x="8345729" y="4616857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every few hours — or once a day</a:t>
            </a:r>
            <a:endParaRPr lang="en-US" sz="950" dirty="0"/>
          </a:p>
        </p:txBody>
      </p:sp>
      <p:sp>
        <p:nvSpPr>
          <p:cNvPr id="92" name="Text 56">
            <a:extLst>
              <a:ext uri="{FF2B5EF4-FFF2-40B4-BE49-F238E27FC236}">
                <a16:creationId xmlns:a16="http://schemas.microsoft.com/office/drawing/2014/main" id="{A33A7D70-BF74-6030-808D-FF4A104FD784}"/>
              </a:ext>
            </a:extLst>
          </p:cNvPr>
          <p:cNvSpPr/>
          <p:nvPr/>
        </p:nvSpPr>
        <p:spPr>
          <a:xfrm>
            <a:off x="8352346" y="4860036"/>
            <a:ext cx="3035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the data's reviewed, the moment that mattered has passed.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Vehicle TelemetriX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905" y="5120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Brain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905" y="106070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cross-check every reading — then a named fault, not just an alert.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905" y="169164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691640"/>
            <a:ext cx="45720" cy="1691640"/>
          </a:xfrm>
          <a:prstGeom prst="rect">
            <a:avLst/>
          </a:prstGeom>
          <a:solidFill>
            <a:srgbClr val="C1552E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5" y="1892808"/>
            <a:ext cx="0" cy="1289304"/>
          </a:xfrm>
          <a:prstGeom prst="line">
            <a:avLst/>
          </a:prstGeom>
          <a:noFill/>
          <a:ln w="12700">
            <a:solidFill>
              <a:srgbClr val="DAD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089" y="18928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SEQUENCE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9089" y="2112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9089" y="245973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normal sensor patterns — a developing fault shows up as rising reconstruction error.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88913" y="18928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STATE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8913" y="2112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88913" y="245973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vehicle states are familiar — an unfamiliar one raises suspicion, fast.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38248" y="3218688"/>
            <a:ext cx="7315200" cy="365760"/>
          </a:xfrm>
          <a:prstGeom prst="roundRect">
            <a:avLst>
              <a:gd name="adj" fmla="val 50000"/>
            </a:avLst>
          </a:prstGeom>
          <a:solidFill>
            <a:srgbClr val="132A44"/>
          </a:solidFill>
          <a:ln/>
          <a:effectLst>
            <a:outerShdw blurRad="101600" dist="38100" dir="5400000" algn="bl" rotWithShape="0">
              <a:srgbClr val="132A44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38248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+ low familiarity = confirmed anomaly  ·  no labeled fault data needed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38587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ANOMALY TO NAMED FAULT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20624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2785" y="4370832"/>
            <a:ext cx="402336" cy="40233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19" name="Image 0" descr="icon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5" y="4467393"/>
            <a:ext cx="209215" cy="20921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92785" y="488289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Confirmed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92785" y="5193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anomaly clears the threshold.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161081" y="4892040"/>
            <a:ext cx="256032" cy="0"/>
          </a:xfrm>
          <a:prstGeom prst="line">
            <a:avLst/>
          </a:prstGeom>
          <a:noFill/>
          <a:ln w="22225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417113" y="420624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599993" y="4370832"/>
            <a:ext cx="402336" cy="40233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25" name="Image 1" descr="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553" y="4467393"/>
            <a:ext cx="209215" cy="20921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599993" y="488289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600-Reading Window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3599993" y="5193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 minutes of history, pulled automatically.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968289" y="4892040"/>
            <a:ext cx="256032" cy="0"/>
          </a:xfrm>
          <a:prstGeom prst="line">
            <a:avLst/>
          </a:prstGeom>
          <a:noFill/>
          <a:ln w="22225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6224321" y="420624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07201" y="4370832"/>
            <a:ext cx="402336" cy="40233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31" name="Image 2" descr="icon_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761" y="4467393"/>
            <a:ext cx="209215" cy="20921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07201" y="488289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Per-Code Classifiers</a:t>
            </a:r>
            <a:endParaRPr lang="en-US" sz="1650" dirty="0"/>
          </a:p>
        </p:txBody>
      </p:sp>
      <p:sp>
        <p:nvSpPr>
          <p:cNvPr id="33" name="Text 28"/>
          <p:cNvSpPr/>
          <p:nvPr/>
        </p:nvSpPr>
        <p:spPr>
          <a:xfrm>
            <a:off x="6407201" y="5193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lightweight model per known fault code.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775497" y="4892040"/>
            <a:ext cx="256032" cy="0"/>
          </a:xfrm>
          <a:prstGeom prst="line">
            <a:avLst/>
          </a:prstGeom>
          <a:noFill/>
          <a:ln w="22225">
            <a:solidFill>
              <a:srgbClr val="C7C3B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9031529" y="420624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AD7D1"/>
            </a:solidFill>
            <a:prstDash val="solid"/>
          </a:ln>
          <a:effectLst>
            <a:outerShdw blurRad="76200" dist="25400" dir="5400000" algn="bl" rotWithShape="0">
              <a:srgbClr val="9A9690">
                <a:alpha val="16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214409" y="4370832"/>
            <a:ext cx="402336" cy="40233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1552E"/>
            </a:solidFill>
            <a:prstDash val="solid"/>
          </a:ln>
        </p:spPr>
      </p:sp>
      <p:pic>
        <p:nvPicPr>
          <p:cNvPr id="37" name="Image 3" descr="icon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0969" y="4467393"/>
            <a:ext cx="209215" cy="20921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214409" y="488289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SmartAttribution</a:t>
            </a:r>
            <a:endParaRPr lang="en-US" sz="1650" dirty="0"/>
          </a:p>
        </p:txBody>
      </p:sp>
      <p:sp>
        <p:nvSpPr>
          <p:cNvPr id="39" name="Text 33"/>
          <p:cNvSpPr/>
          <p:nvPr/>
        </p:nvSpPr>
        <p:spPr>
          <a:xfrm>
            <a:off x="9214409" y="5193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root cause from sympathetic noise.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609905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anomaly already knows why — a short, ranked list of causes, not a black box.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341</Words>
  <Application>Microsoft Office PowerPoint</Application>
  <PresentationFormat>Widescreen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Ishaan Tiwari</cp:lastModifiedBy>
  <cp:revision>2</cp:revision>
  <dcterms:created xsi:type="dcterms:W3CDTF">2026-09-02T08:28:40Z</dcterms:created>
  <dcterms:modified xsi:type="dcterms:W3CDTF">2026-09-02T09:25:27Z</dcterms:modified>
</cp:coreProperties>
</file>