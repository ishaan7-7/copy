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727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Vehicle TelemetriX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sensor reading, five real-time stages, two ML models, one named fault.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AD7D1"/>
            </a:solidFill>
            <a:prstDash val="solid"/>
          </a:ln>
          <a:effectLst>
            <a:outerShdw blurRad="63500" dist="25400" dir="5400000" algn="bl" rotWithShape="0">
              <a:srgbClr val="9A969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85416" y="1225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261872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1552E"/>
            </a:solidFill>
            <a:prstDash val="solid"/>
          </a:ln>
        </p:spPr>
      </p:sp>
      <p:pic>
        <p:nvPicPr>
          <p:cNvPr id="8" name="Image 0" descr="icon_ing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1334292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459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865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schema-checked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64108" y="2240280"/>
            <a:ext cx="1389888" cy="201168"/>
          </a:xfrm>
          <a:prstGeom prst="roundRect">
            <a:avLst>
              <a:gd name="adj" fmla="val 50000"/>
            </a:avLst>
          </a:prstGeom>
          <a:solidFill>
            <a:srgbClr val="EFEDE8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" y="224576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CAPTURE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2514600" y="1837944"/>
            <a:ext cx="235915" cy="0"/>
          </a:xfrm>
          <a:prstGeom prst="line">
            <a:avLst/>
          </a:prstGeom>
          <a:noFill/>
          <a:ln w="19050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750515" y="1152144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AD7D1"/>
            </a:solidFill>
            <a:prstDash val="solid"/>
          </a:ln>
          <a:effectLst>
            <a:outerShdw blurRad="63500" dist="25400" dir="5400000" algn="bl" rotWithShape="0">
              <a:srgbClr val="9A969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33011" y="1225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887675" y="1261872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1552E"/>
            </a:solidFill>
            <a:prstDash val="solid"/>
          </a:ln>
        </p:spPr>
      </p:sp>
      <p:pic>
        <p:nvPicPr>
          <p:cNvPr id="17" name="Image 1" descr="icon_bron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096" y="133429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87675" y="16459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887675" y="1865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to Delta Lake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084271" y="2240280"/>
            <a:ext cx="1481328" cy="201168"/>
          </a:xfrm>
          <a:prstGeom prst="roundRect">
            <a:avLst>
              <a:gd name="adj" fmla="val 50000"/>
            </a:avLst>
          </a:prstGeom>
          <a:solidFill>
            <a:srgbClr val="E4F1F2"/>
          </a:solidFill>
          <a:ln/>
        </p:spPr>
      </p:sp>
      <p:sp>
        <p:nvSpPr>
          <p:cNvPr id="21" name="Text 17"/>
          <p:cNvSpPr/>
          <p:nvPr/>
        </p:nvSpPr>
        <p:spPr>
          <a:xfrm>
            <a:off x="2947111" y="2245766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F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· 1s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4762195" y="1837944"/>
            <a:ext cx="235915" cy="0"/>
          </a:xfrm>
          <a:prstGeom prst="line">
            <a:avLst/>
          </a:prstGeom>
          <a:noFill/>
          <a:ln w="19050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4998110" y="1152144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AD7D1"/>
            </a:solidFill>
            <a:prstDash val="solid"/>
          </a:ln>
          <a:effectLst>
            <a:outerShdw blurRad="63500" dist="25400" dir="5400000" algn="bl" rotWithShape="0">
              <a:srgbClr val="9A9690">
                <a:alpha val="14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680606" y="1225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135270" y="1261872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1552E"/>
            </a:solidFill>
            <a:prstDash val="solid"/>
          </a:ln>
        </p:spPr>
      </p:sp>
      <p:pic>
        <p:nvPicPr>
          <p:cNvPr id="26" name="Image 2" descr="icon_sil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691" y="1334292"/>
            <a:ext cx="184343" cy="18434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35270" y="16459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135270" y="1865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GMM score it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423306" y="2249424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E7ECF1"/>
          </a:solidFill>
          <a:ln/>
        </p:spPr>
      </p:sp>
      <p:sp>
        <p:nvSpPr>
          <p:cNvPr id="30" name="Text 25"/>
          <p:cNvSpPr/>
          <p:nvPr/>
        </p:nvSpPr>
        <p:spPr>
          <a:xfrm>
            <a:off x="5354726" y="2245766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· 2s</a:t>
            </a:r>
            <a:endParaRPr lang="en-US" sz="760" dirty="0"/>
          </a:p>
        </p:txBody>
      </p:sp>
      <p:sp>
        <p:nvSpPr>
          <p:cNvPr id="31" name="Shape 26"/>
          <p:cNvSpPr/>
          <p:nvPr/>
        </p:nvSpPr>
        <p:spPr>
          <a:xfrm>
            <a:off x="7009790" y="1837944"/>
            <a:ext cx="235915" cy="0"/>
          </a:xfrm>
          <a:prstGeom prst="line">
            <a:avLst/>
          </a:prstGeom>
          <a:noFill/>
          <a:ln w="19050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7245706" y="1152144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AD7D1"/>
            </a:solidFill>
            <a:prstDash val="solid"/>
          </a:ln>
          <a:effectLst>
            <a:outerShdw blurRad="63500" dist="25400" dir="5400000" algn="bl" rotWithShape="0">
              <a:srgbClr val="9A9690">
                <a:alpha val="14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8928202" y="1225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7382866" y="1261872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1552E"/>
            </a:solidFill>
            <a:prstDash val="solid"/>
          </a:ln>
        </p:spPr>
      </p:sp>
      <p:pic>
        <p:nvPicPr>
          <p:cNvPr id="35" name="Image 3" descr="icon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5286" y="1334292"/>
            <a:ext cx="184343" cy="18434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382866" y="16459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382866" y="1865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scores → 1 health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382866" y="2249424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E7ECF1"/>
          </a:solidFill>
          <a:ln/>
        </p:spPr>
      </p:sp>
      <p:sp>
        <p:nvSpPr>
          <p:cNvPr id="39" name="Text 33"/>
          <p:cNvSpPr/>
          <p:nvPr/>
        </p:nvSpPr>
        <p:spPr>
          <a:xfrm>
            <a:off x="7382866" y="224576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2s · EMIT 30s</a:t>
            </a:r>
            <a:endParaRPr lang="en-US" sz="760" dirty="0"/>
          </a:p>
        </p:txBody>
      </p:sp>
      <p:sp>
        <p:nvSpPr>
          <p:cNvPr id="40" name="Shape 34"/>
          <p:cNvSpPr/>
          <p:nvPr/>
        </p:nvSpPr>
        <p:spPr>
          <a:xfrm>
            <a:off x="9257386" y="1837944"/>
            <a:ext cx="235915" cy="0"/>
          </a:xfrm>
          <a:prstGeom prst="line">
            <a:avLst/>
          </a:prstGeom>
          <a:noFill/>
          <a:ln w="19050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41" name="Shape 35"/>
          <p:cNvSpPr/>
          <p:nvPr/>
        </p:nvSpPr>
        <p:spPr>
          <a:xfrm>
            <a:off x="9493301" y="1152144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C1552E"/>
            </a:solidFill>
            <a:prstDash val="solid"/>
          </a:ln>
          <a:effectLst>
            <a:outerShdw blurRad="63500" dist="25400" dir="5400000" algn="bl" rotWithShape="0">
              <a:srgbClr val="9A9690">
                <a:alpha val="14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11175797" y="1225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9630461" y="1261872"/>
            <a:ext cx="329184" cy="329184"/>
          </a:xfrm>
          <a:prstGeom prst="ellipse">
            <a:avLst/>
          </a:prstGeom>
          <a:solidFill>
            <a:srgbClr val="FBEAE1"/>
          </a:solidFill>
          <a:ln w="17780">
            <a:solidFill>
              <a:srgbClr val="C1552E"/>
            </a:solidFill>
            <a:prstDash val="solid"/>
          </a:ln>
        </p:spPr>
      </p:sp>
      <p:pic>
        <p:nvPicPr>
          <p:cNvPr id="44" name="Image 4" descr="icon_ale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2881" y="1334292"/>
            <a:ext cx="184343" cy="184343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630461" y="16459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DTC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9630461" y="1865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evidence-backed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9785909" y="2217420"/>
            <a:ext cx="1389888" cy="201168"/>
          </a:xfrm>
          <a:prstGeom prst="roundRect">
            <a:avLst>
              <a:gd name="adj" fmla="val 50000"/>
            </a:avLst>
          </a:prstGeom>
          <a:solidFill>
            <a:srgbClr val="FBEAE1"/>
          </a:solidFill>
          <a:ln/>
        </p:spPr>
      </p:sp>
      <p:sp>
        <p:nvSpPr>
          <p:cNvPr id="48" name="Text 41"/>
          <p:cNvSpPr/>
          <p:nvPr/>
        </p:nvSpPr>
        <p:spPr>
          <a:xfrm>
            <a:off x="9785909" y="220827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 DIAGNOSIS</a:t>
            </a:r>
            <a:endParaRPr lang="en-US" sz="760" dirty="0"/>
          </a:p>
        </p:txBody>
      </p:sp>
      <p:sp>
        <p:nvSpPr>
          <p:cNvPr id="49" name="Shape 42"/>
          <p:cNvSpPr/>
          <p:nvPr/>
        </p:nvSpPr>
        <p:spPr>
          <a:xfrm>
            <a:off x="502920" y="2706624"/>
            <a:ext cx="3571342" cy="987552"/>
          </a:xfrm>
          <a:prstGeom prst="roundRect">
            <a:avLst>
              <a:gd name="adj" fmla="val 7407"/>
            </a:avLst>
          </a:prstGeom>
          <a:solidFill>
            <a:srgbClr val="1F5C68"/>
          </a:solidFill>
          <a:ln/>
          <a:effectLst>
            <a:outerShdw blurRad="63500" dist="25400" dir="5400000" algn="bl" rotWithShape="0">
              <a:srgbClr val="9A9690">
                <a:alpha val="14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667512" y="2852928"/>
            <a:ext cx="292608" cy="292608"/>
          </a:xfrm>
          <a:prstGeom prst="ellipse">
            <a:avLst/>
          </a:prstGeom>
          <a:solidFill>
            <a:srgbClr val="2A7080"/>
          </a:solidFill>
          <a:ln/>
        </p:spPr>
      </p:sp>
      <p:pic>
        <p:nvPicPr>
          <p:cNvPr id="51" name="Image 5" descr="icon_wif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" y="2921508"/>
            <a:ext cx="155448" cy="15544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67512" y="3182112"/>
            <a:ext cx="3242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Streaming</a:t>
            </a:r>
            <a:endParaRPr lang="en-US" sz="1150" dirty="0"/>
          </a:p>
        </p:txBody>
      </p:sp>
      <p:sp>
        <p:nvSpPr>
          <p:cNvPr id="53" name="Text 45"/>
          <p:cNvSpPr/>
          <p:nvPr/>
        </p:nvSpPr>
        <p:spPr>
          <a:xfrm>
            <a:off x="667512" y="3383280"/>
            <a:ext cx="3242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F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1s, Ingest → Bronze — built for high-volume raw data.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4310177" y="2706624"/>
            <a:ext cx="3571342" cy="987552"/>
          </a:xfrm>
          <a:prstGeom prst="roundRect">
            <a:avLst>
              <a:gd name="adj" fmla="val 7407"/>
            </a:avLst>
          </a:prstGeom>
          <a:solidFill>
            <a:srgbClr val="132A44"/>
          </a:solidFill>
          <a:ln/>
          <a:effectLst>
            <a:outerShdw blurRad="63500" dist="25400" dir="5400000" algn="bl" rotWithShape="0">
              <a:srgbClr val="9A9690">
                <a:alpha val="140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4474769" y="2852928"/>
            <a:ext cx="292608" cy="292608"/>
          </a:xfrm>
          <a:prstGeom prst="ellipse">
            <a:avLst/>
          </a:prstGeom>
          <a:solidFill>
            <a:srgbClr val="24466B"/>
          </a:solidFill>
          <a:ln/>
        </p:spPr>
      </p:sp>
      <p:pic>
        <p:nvPicPr>
          <p:cNvPr id="56" name="Image 6" descr="icon_refres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3349" y="2921508"/>
            <a:ext cx="155448" cy="155448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4474769" y="3182112"/>
            <a:ext cx="3242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Polling</a:t>
            </a:r>
            <a:endParaRPr lang="en-US" sz="1150" dirty="0"/>
          </a:p>
        </p:txBody>
      </p:sp>
      <p:sp>
        <p:nvSpPr>
          <p:cNvPr id="58" name="Text 49"/>
          <p:cNvSpPr/>
          <p:nvPr/>
        </p:nvSpPr>
        <p:spPr>
          <a:xfrm>
            <a:off x="4474769" y="3383280"/>
            <a:ext cx="3242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2s, Silver · Gold · Alerts — fast enough for ML.</a:t>
            </a:r>
            <a:endParaRPr lang="en-US" sz="800" dirty="0"/>
          </a:p>
        </p:txBody>
      </p:sp>
      <p:sp>
        <p:nvSpPr>
          <p:cNvPr id="59" name="Shape 50"/>
          <p:cNvSpPr/>
          <p:nvPr/>
        </p:nvSpPr>
        <p:spPr>
          <a:xfrm>
            <a:off x="8117434" y="2706624"/>
            <a:ext cx="3571342" cy="987552"/>
          </a:xfrm>
          <a:prstGeom prst="roundRect">
            <a:avLst>
              <a:gd name="adj" fmla="val 7407"/>
            </a:avLst>
          </a:prstGeom>
          <a:solidFill>
            <a:srgbClr val="EDEBE6"/>
          </a:solidFill>
          <a:ln/>
          <a:effectLst>
            <a:outerShdw blurRad="63500" dist="25400" dir="5400000" algn="bl" rotWithShape="0">
              <a:srgbClr val="9A9690">
                <a:alpha val="14000"/>
              </a:srgbClr>
            </a:outerShdw>
          </a:effectLst>
        </p:spPr>
      </p:sp>
      <p:sp>
        <p:nvSpPr>
          <p:cNvPr id="60" name="Shape 51"/>
          <p:cNvSpPr/>
          <p:nvPr/>
        </p:nvSpPr>
        <p:spPr>
          <a:xfrm>
            <a:off x="8282026" y="2852928"/>
            <a:ext cx="292608" cy="292608"/>
          </a:xfrm>
          <a:prstGeom prst="ellipse">
            <a:avLst/>
          </a:prstGeom>
          <a:solidFill>
            <a:srgbClr val="C9C4B8"/>
          </a:solidFill>
          <a:ln/>
        </p:spPr>
      </p:sp>
      <p:pic>
        <p:nvPicPr>
          <p:cNvPr id="61" name="Image 7" descr="icon_c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0606" y="2921508"/>
            <a:ext cx="155448" cy="15544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8282026" y="3182112"/>
            <a:ext cx="3242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Fleet Systems</a:t>
            </a:r>
            <a:endParaRPr lang="en-US" sz="1150" dirty="0"/>
          </a:p>
        </p:txBody>
      </p:sp>
      <p:sp>
        <p:nvSpPr>
          <p:cNvPr id="63" name="Text 53"/>
          <p:cNvSpPr/>
          <p:nvPr/>
        </p:nvSpPr>
        <p:spPr>
          <a:xfrm>
            <a:off x="8282026" y="3383280"/>
            <a:ext cx="3242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every few hours. This one never stops.</a:t>
            </a:r>
            <a:endParaRPr lang="en-US" sz="800" dirty="0"/>
          </a:p>
        </p:txBody>
      </p:sp>
      <p:sp>
        <p:nvSpPr>
          <p:cNvPr id="64" name="Shape 54"/>
          <p:cNvSpPr/>
          <p:nvPr/>
        </p:nvSpPr>
        <p:spPr>
          <a:xfrm>
            <a:off x="502920" y="3877056"/>
            <a:ext cx="11185855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DAD7D1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502920" y="3877056"/>
            <a:ext cx="41148" cy="1170432"/>
          </a:xfrm>
          <a:prstGeom prst="rect">
            <a:avLst/>
          </a:prstGeom>
          <a:solidFill>
            <a:srgbClr val="C1552E"/>
          </a:solidFill>
          <a:ln/>
        </p:spPr>
      </p:sp>
      <p:sp>
        <p:nvSpPr>
          <p:cNvPr id="66" name="Shape 56"/>
          <p:cNvSpPr/>
          <p:nvPr/>
        </p:nvSpPr>
        <p:spPr>
          <a:xfrm>
            <a:off x="6095848" y="4023360"/>
            <a:ext cx="0" cy="804672"/>
          </a:xfrm>
          <a:prstGeom prst="line">
            <a:avLst/>
          </a:prstGeom>
          <a:noFill/>
          <a:ln w="12700">
            <a:solidFill>
              <a:srgbClr val="DAD7D1"/>
            </a:solidFill>
            <a:prstDash val="solid"/>
          </a:ln>
        </p:spPr>
      </p:sp>
      <p:sp>
        <p:nvSpPr>
          <p:cNvPr id="67" name="Text 57"/>
          <p:cNvSpPr/>
          <p:nvPr/>
        </p:nvSpPr>
        <p:spPr>
          <a:xfrm>
            <a:off x="758952" y="4005072"/>
            <a:ext cx="504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UNUSUAL?</a:t>
            </a:r>
            <a:endParaRPr lang="en-US" sz="860" dirty="0"/>
          </a:p>
        </p:txBody>
      </p:sp>
      <p:sp>
        <p:nvSpPr>
          <p:cNvPr id="68" name="Text 58"/>
          <p:cNvSpPr/>
          <p:nvPr/>
        </p:nvSpPr>
        <p:spPr>
          <a:xfrm>
            <a:off x="758952" y="4169664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</a:t>
            </a:r>
            <a:endParaRPr lang="en-US" sz="1400" dirty="0"/>
          </a:p>
        </p:txBody>
      </p:sp>
      <p:sp>
        <p:nvSpPr>
          <p:cNvPr id="69" name="Text 59"/>
          <p:cNvSpPr/>
          <p:nvPr/>
        </p:nvSpPr>
        <p:spPr>
          <a:xfrm>
            <a:off x="758952" y="4407408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reading that breaks from the vehicle's normal pattern.</a:t>
            </a:r>
            <a:endParaRPr lang="en-US" sz="900" dirty="0"/>
          </a:p>
        </p:txBody>
      </p:sp>
      <p:sp>
        <p:nvSpPr>
          <p:cNvPr id="70" name="Text 60"/>
          <p:cNvSpPr/>
          <p:nvPr/>
        </p:nvSpPr>
        <p:spPr>
          <a:xfrm>
            <a:off x="6370168" y="4005072"/>
            <a:ext cx="504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EVER SEEN?</a:t>
            </a:r>
            <a:endParaRPr lang="en-US" sz="860" dirty="0"/>
          </a:p>
        </p:txBody>
      </p:sp>
      <p:sp>
        <p:nvSpPr>
          <p:cNvPr id="71" name="Text 61"/>
          <p:cNvSpPr/>
          <p:nvPr/>
        </p:nvSpPr>
        <p:spPr>
          <a:xfrm>
            <a:off x="6370168" y="4169664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</a:t>
            </a:r>
            <a:endParaRPr lang="en-US" sz="1400" dirty="0"/>
          </a:p>
        </p:txBody>
      </p:sp>
      <p:sp>
        <p:nvSpPr>
          <p:cNvPr id="72" name="Text 62"/>
          <p:cNvSpPr/>
          <p:nvPr/>
        </p:nvSpPr>
        <p:spPr>
          <a:xfrm>
            <a:off x="6370168" y="4407408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the vehicle has been in this state before.</a:t>
            </a:r>
            <a:endParaRPr lang="en-US" sz="900" dirty="0"/>
          </a:p>
        </p:txBody>
      </p:sp>
      <p:sp>
        <p:nvSpPr>
          <p:cNvPr id="73" name="Shape 63"/>
          <p:cNvSpPr/>
          <p:nvPr/>
        </p:nvSpPr>
        <p:spPr>
          <a:xfrm>
            <a:off x="2163928" y="4919472"/>
            <a:ext cx="7863840" cy="310896"/>
          </a:xfrm>
          <a:prstGeom prst="roundRect">
            <a:avLst>
              <a:gd name="adj" fmla="val 50000"/>
            </a:avLst>
          </a:prstGeom>
          <a:solidFill>
            <a:srgbClr val="132A44"/>
          </a:solidFill>
          <a:ln/>
          <a:effectLst>
            <a:outerShdw blurRad="88900" dist="25400" dir="5400000" algn="bl" rotWithShape="0">
              <a:srgbClr val="132A44">
                <a:alpha val="30000"/>
              </a:srgbClr>
            </a:outerShdw>
          </a:effectLst>
        </p:spPr>
      </p:sp>
      <p:sp>
        <p:nvSpPr>
          <p:cNvPr id="74" name="Text 64"/>
          <p:cNvSpPr/>
          <p:nvPr/>
        </p:nvSpPr>
        <p:spPr>
          <a:xfrm>
            <a:off x="2163928" y="49194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+ never-seen-before = confirmed anomaly, named fault — no labeled data needed</a:t>
            </a:r>
            <a:endParaRPr lang="en-US" sz="960" dirty="0"/>
          </a:p>
        </p:txBody>
      </p:sp>
      <p:sp>
        <p:nvSpPr>
          <p:cNvPr id="75" name="Shape 65"/>
          <p:cNvSpPr/>
          <p:nvPr/>
        </p:nvSpPr>
        <p:spPr>
          <a:xfrm>
            <a:off x="433495" y="5385816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132A44"/>
          </a:solidFill>
          <a:ln/>
        </p:spPr>
      </p:sp>
      <p:sp>
        <p:nvSpPr>
          <p:cNvPr id="76" name="Shape 66"/>
          <p:cNvSpPr/>
          <p:nvPr/>
        </p:nvSpPr>
        <p:spPr>
          <a:xfrm>
            <a:off x="704088" y="5435600"/>
            <a:ext cx="219456" cy="219456"/>
          </a:xfrm>
          <a:prstGeom prst="ellipse">
            <a:avLst/>
          </a:prstGeom>
          <a:solidFill>
            <a:srgbClr val="3E9142"/>
          </a:solidFill>
          <a:ln/>
        </p:spPr>
      </p:sp>
      <p:pic>
        <p:nvPicPr>
          <p:cNvPr id="77" name="Image 8" descr="icon_check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092" y="5486400"/>
            <a:ext cx="128016" cy="128016"/>
          </a:xfrm>
          <a:prstGeom prst="rect">
            <a:avLst/>
          </a:prstGeom>
        </p:spPr>
      </p:pic>
      <p:sp>
        <p:nvSpPr>
          <p:cNvPr id="78" name="Text 67"/>
          <p:cNvSpPr/>
          <p:nvPr/>
        </p:nvSpPr>
        <p:spPr>
          <a:xfrm>
            <a:off x="1005840" y="5435600"/>
            <a:ext cx="3134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seconds</a:t>
            </a:r>
            <a:endParaRPr lang="en-US" sz="1150" dirty="0"/>
          </a:p>
        </p:txBody>
      </p:sp>
      <p:sp>
        <p:nvSpPr>
          <p:cNvPr id="79" name="Text 68"/>
          <p:cNvSpPr/>
          <p:nvPr/>
        </p:nvSpPr>
        <p:spPr>
          <a:xfrm>
            <a:off x="1000555" y="5638800"/>
            <a:ext cx="31342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 → verdict, whole fleet</a:t>
            </a:r>
            <a:endParaRPr lang="en-US" sz="800" dirty="0"/>
          </a:p>
        </p:txBody>
      </p:sp>
      <p:sp>
        <p:nvSpPr>
          <p:cNvPr id="80" name="Shape 69"/>
          <p:cNvSpPr/>
          <p:nvPr/>
        </p:nvSpPr>
        <p:spPr>
          <a:xfrm>
            <a:off x="4231538" y="5321808"/>
            <a:ext cx="0" cy="2743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4432706" y="5435600"/>
            <a:ext cx="219456" cy="219456"/>
          </a:xfrm>
          <a:prstGeom prst="ellipse">
            <a:avLst/>
          </a:prstGeom>
          <a:solidFill>
            <a:srgbClr val="3E9142"/>
          </a:solidFill>
          <a:ln/>
        </p:spPr>
      </p:sp>
      <p:pic>
        <p:nvPicPr>
          <p:cNvPr id="82" name="Image 9" descr="icon_check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4710" y="5486400"/>
            <a:ext cx="128016" cy="128016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4734458" y="5435600"/>
            <a:ext cx="3134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models, cross-checked</a:t>
            </a:r>
            <a:endParaRPr lang="en-US" sz="1150" dirty="0"/>
          </a:p>
        </p:txBody>
      </p:sp>
      <p:sp>
        <p:nvSpPr>
          <p:cNvPr id="84" name="Text 72"/>
          <p:cNvSpPr/>
          <p:nvPr/>
        </p:nvSpPr>
        <p:spPr>
          <a:xfrm>
            <a:off x="4705086" y="5638800"/>
            <a:ext cx="31342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fewer false alarms</a:t>
            </a:r>
            <a:endParaRPr lang="en-US" sz="800" dirty="0"/>
          </a:p>
        </p:txBody>
      </p:sp>
      <p:sp>
        <p:nvSpPr>
          <p:cNvPr id="85" name="Shape 73"/>
          <p:cNvSpPr/>
          <p:nvPr/>
        </p:nvSpPr>
        <p:spPr>
          <a:xfrm>
            <a:off x="7960157" y="5321808"/>
            <a:ext cx="0" cy="2743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6" name="Shape 74"/>
          <p:cNvSpPr/>
          <p:nvPr/>
        </p:nvSpPr>
        <p:spPr>
          <a:xfrm>
            <a:off x="8161325" y="5435600"/>
            <a:ext cx="219456" cy="219456"/>
          </a:xfrm>
          <a:prstGeom prst="ellipse">
            <a:avLst/>
          </a:prstGeom>
          <a:solidFill>
            <a:srgbClr val="3E9142"/>
          </a:solidFill>
          <a:ln/>
        </p:spPr>
      </p:sp>
      <p:pic>
        <p:nvPicPr>
          <p:cNvPr id="87" name="Image 10" descr="icon_check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3329" y="5486400"/>
            <a:ext cx="128016" cy="128016"/>
          </a:xfrm>
          <a:prstGeom prst="rect">
            <a:avLst/>
          </a:prstGeom>
        </p:spPr>
      </p:pic>
      <p:sp>
        <p:nvSpPr>
          <p:cNvPr id="88" name="Text 75"/>
          <p:cNvSpPr/>
          <p:nvPr/>
        </p:nvSpPr>
        <p:spPr>
          <a:xfrm>
            <a:off x="8463077" y="5435600"/>
            <a:ext cx="3134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not generic</a:t>
            </a:r>
            <a:endParaRPr lang="en-US" sz="1150" dirty="0"/>
          </a:p>
        </p:txBody>
      </p:sp>
      <p:sp>
        <p:nvSpPr>
          <p:cNvPr id="89" name="Text 76"/>
          <p:cNvSpPr/>
          <p:nvPr/>
        </p:nvSpPr>
        <p:spPr>
          <a:xfrm>
            <a:off x="8428330" y="5638800"/>
            <a:ext cx="31342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fault, every time</a:t>
            </a:r>
            <a:endParaRPr lang="en-US" sz="800" dirty="0"/>
          </a:p>
        </p:txBody>
      </p:sp>
      <p:sp>
        <p:nvSpPr>
          <p:cNvPr id="90" name="Text 77"/>
          <p:cNvSpPr/>
          <p:nvPr/>
        </p:nvSpPr>
        <p:spPr>
          <a:xfrm>
            <a:off x="502919" y="599846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watching, always cross-checking — every anomaly comes with its exact cause.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87CB82A-0D73-473D-BCEB-78C1F227705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006d80d-669f-40f3-ad53-a1284417110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208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Ishaan Tiwari</cp:lastModifiedBy>
  <cp:revision>3</cp:revision>
  <dcterms:created xsi:type="dcterms:W3CDTF">2026-09-02T13:46:25Z</dcterms:created>
  <dcterms:modified xsi:type="dcterms:W3CDTF">2026-09-03T08:03:18Z</dcterms:modified>
</cp:coreProperties>
</file>